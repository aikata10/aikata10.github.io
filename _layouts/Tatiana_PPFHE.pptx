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7315200" cx="129381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+Ad/x5gHWYQdaikc5xjkdhQTk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3BD724-6EF9-441B-9A8D-D7721558AADC}">
  <a:tblStyle styleId="{773BD724-6EF9-441B-9A8D-D7721558AA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herma.io/about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logos</a:t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2e980fd0f_2_180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2e980fd0f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example privacy preserving -&gt; a person can </a:t>
            </a:r>
            <a:r>
              <a:rPr lang="de-DE"/>
              <a:t>encrypt</a:t>
            </a:r>
            <a:r>
              <a:rPr lang="de-DE"/>
              <a:t> their </a:t>
            </a:r>
            <a:r>
              <a:rPr lang="de-DE"/>
              <a:t>symptoms</a:t>
            </a:r>
            <a:r>
              <a:rPr lang="de-DE"/>
              <a:t> or a firm/ hostpital  that offers a model, cant </a:t>
            </a:r>
            <a:r>
              <a:rPr lang="de-DE"/>
              <a:t>reveal data but wants to train the model</a:t>
            </a:r>
            <a:endParaRPr/>
          </a:p>
        </p:txBody>
      </p:sp>
      <p:sp>
        <p:nvSpPr>
          <p:cNvPr id="136" name="Google Shape;136;g302e980fd0f_2_1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2e980fd0f_2_204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2e980fd0f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02e980fd0f_2_2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2e980fd0f_2_194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2e980fd0f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also used in neutral networkd, high performing fhe schemes ckks</a:t>
            </a:r>
            <a:endParaRPr/>
          </a:p>
        </p:txBody>
      </p:sp>
      <p:sp>
        <p:nvSpPr>
          <p:cNvPr id="163" name="Google Shape;163;g302e980fd0f_2_1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2e980fd0f_0_11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2e980fd0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numpy polyfit -&gt; least-squared, remove text from figires</a:t>
            </a:r>
            <a:endParaRPr/>
          </a:p>
        </p:txBody>
      </p:sp>
      <p:sp>
        <p:nvSpPr>
          <p:cNvPr id="176" name="Google Shape;176;g302e980fd0f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2e980fd0f_2_172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2e980fd0f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https://fherma.io/about</a:t>
            </a:r>
            <a:r>
              <a:rPr lang="de-DE"/>
              <a:t> </a:t>
            </a:r>
            <a:br>
              <a:rPr lang="de-DE"/>
            </a:br>
            <a:r>
              <a:rPr lang="de-DE"/>
              <a:t>Fherma: platform for FHE challenges to help developing an open-source FHE library with the main focus on components for machine learning and blockchain.</a:t>
            </a:r>
            <a:br>
              <a:rPr lang="de-DE"/>
            </a:br>
            <a:r>
              <a:rPr lang="de-DE"/>
              <a:t>where AIKATA presented the </a:t>
            </a:r>
            <a:r>
              <a:rPr lang="de-DE"/>
              <a:t>solutions</a:t>
            </a:r>
            <a:r>
              <a:rPr lang="de-DE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-DE"/>
              <a:t>sign challenge: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-DE"/>
              <a:t>sigmoid: implemented polynomial evaluation of the sigmoid activation function for the restricted parameters:  max depth of 4 and degree 13  and get the accuracy 98.297%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-DE"/>
              <a:t>we want to automate the process for any given degree</a:t>
            </a:r>
            <a:endParaRPr/>
          </a:p>
        </p:txBody>
      </p:sp>
      <p:sp>
        <p:nvSpPr>
          <p:cNvPr id="192" name="Google Shape;192;g302e980fd0f_2_1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2e980fd0f_2_10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2e980fd0f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the more depth is left for remaining computation</a:t>
            </a:r>
            <a:endParaRPr/>
          </a:p>
        </p:txBody>
      </p:sp>
      <p:sp>
        <p:nvSpPr>
          <p:cNvPr id="204" name="Google Shape;204;g302e980fd0f_2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binary tree decomposition technique</a:t>
            </a:r>
            <a:br>
              <a:rPr lang="de-DE"/>
            </a:br>
            <a:r>
              <a:rPr lang="de-DE"/>
              <a:t>c * x^15 if we multiply by c at the end depth -&gt; 5, but if we insert it into the tree it stays depth of 4</a:t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467560b1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binary tree decomposition technique</a:t>
            </a:r>
            <a:br>
              <a:rPr lang="de-DE"/>
            </a:br>
            <a:r>
              <a:rPr lang="de-DE"/>
              <a:t>c * x^15 if we multiply by c at the end depth -&gt; 5, but if we insert it into the tree it stays depth of 4</a:t>
            </a:r>
            <a:endParaRPr/>
          </a:p>
        </p:txBody>
      </p:sp>
      <p:sp>
        <p:nvSpPr>
          <p:cNvPr id="225" name="Google Shape;225;g30467560b14_0_120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0467560b1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binary tree decomposition technique</a:t>
            </a:r>
            <a:br>
              <a:rPr lang="de-DE"/>
            </a:br>
            <a:r>
              <a:rPr lang="de-DE"/>
              <a:t>c * x^15 if we multiply by c at the end depth -&gt; 5, but if we insert it into the tree it stays depth of 4</a:t>
            </a:r>
            <a:endParaRPr/>
          </a:p>
        </p:txBody>
      </p:sp>
      <p:sp>
        <p:nvSpPr>
          <p:cNvPr id="237" name="Google Shape;237;g30467560b14_0_133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467560b1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binary tree decomposition technique</a:t>
            </a:r>
            <a:br>
              <a:rPr lang="de-DE"/>
            </a:br>
            <a:r>
              <a:rPr lang="de-DE"/>
              <a:t>c * x^15 if we multiply by c at the end depth -&gt; 5, but if we insert it into the tree it stays depth of 4</a:t>
            </a:r>
            <a:endParaRPr/>
          </a:p>
        </p:txBody>
      </p:sp>
      <p:sp>
        <p:nvSpPr>
          <p:cNvPr id="251" name="Google Shape;251;g30467560b14_0_100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2e980fd0f_2_126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02e980fd0f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02e980fd0f_2_1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02e980fd0f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02e980fd0f_2_85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0467560b1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binary tree decomposition technique</a:t>
            </a:r>
            <a:br>
              <a:rPr lang="de-DE"/>
            </a:br>
            <a:r>
              <a:rPr lang="de-DE"/>
              <a:t>c * x^15 if we multiply by c at the end depth -&gt; 5, but if we insert it into the tree it stays depth of 4</a:t>
            </a:r>
            <a:endParaRPr/>
          </a:p>
        </p:txBody>
      </p:sp>
      <p:sp>
        <p:nvSpPr>
          <p:cNvPr id="309" name="Google Shape;309;g30467560b14_0_201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02e980fd0f_2_96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02e980fd0f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02e980fd0f_2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396875" y="685800"/>
            <a:ext cx="60642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02e980fd0f_2_220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02e980fd0f_2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02e980fd0f_2_2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02e980fd0f_2_157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02e980fd0f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02e980fd0f_2_1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0467560b1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0467560b14_0_159:notes"/>
          <p:cNvSpPr/>
          <p:nvPr>
            <p:ph idx="2" type="sldImg"/>
          </p:nvPr>
        </p:nvSpPr>
        <p:spPr>
          <a:xfrm>
            <a:off x="396875" y="685800"/>
            <a:ext cx="606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938125" cy="670613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 txBox="1"/>
          <p:nvPr>
            <p:ph type="ctrTitle"/>
          </p:nvPr>
        </p:nvSpPr>
        <p:spPr>
          <a:xfrm>
            <a:off x="880588" y="1392640"/>
            <a:ext cx="8659375" cy="2426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70146"/>
              </a:buClr>
              <a:buSzPts val="5100"/>
              <a:buFont typeface="Arial"/>
              <a:buNone/>
              <a:defRPr sz="5100">
                <a:solidFill>
                  <a:srgbClr val="F7014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80591" y="4802560"/>
            <a:ext cx="8659375" cy="3601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880588" y="3865600"/>
            <a:ext cx="8659375" cy="803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/>
        </p:nvSpPr>
        <p:spPr>
          <a:xfrm>
            <a:off x="10569532" y="1218837"/>
            <a:ext cx="2037691" cy="78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WISSEN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TECHNIK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LEIDENSCHAFT</a:t>
            </a:r>
            <a:endParaRPr/>
          </a:p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80512" y="6839321"/>
            <a:ext cx="10521108" cy="284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over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938125" cy="670613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6"/>
          <p:cNvSpPr txBox="1"/>
          <p:nvPr>
            <p:ph type="ctrTitle"/>
          </p:nvPr>
        </p:nvSpPr>
        <p:spPr>
          <a:xfrm>
            <a:off x="880589" y="1392640"/>
            <a:ext cx="8659375" cy="2426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70146"/>
              </a:buClr>
              <a:buSzPts val="5100"/>
              <a:buFont typeface="Arial"/>
              <a:buNone/>
              <a:defRPr sz="5100">
                <a:solidFill>
                  <a:srgbClr val="F7014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80591" y="4802560"/>
            <a:ext cx="8659375" cy="3601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880589" y="3865600"/>
            <a:ext cx="8659375" cy="803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/>
        </p:nvSpPr>
        <p:spPr>
          <a:xfrm>
            <a:off x="10569532" y="1218837"/>
            <a:ext cx="2037691" cy="78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SCIENCE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PASSION</a:t>
            </a:r>
            <a:br>
              <a:rPr b="0" i="0" lang="de-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/>
          </a:p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880588" y="2251220"/>
            <a:ext cx="11877840" cy="438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0" type="dt"/>
          </p:nvPr>
        </p:nvSpPr>
        <p:spPr>
          <a:xfrm>
            <a:off x="880585" y="7010554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1" type="ftr"/>
          </p:nvPr>
        </p:nvSpPr>
        <p:spPr>
          <a:xfrm>
            <a:off x="880588" y="6782073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zwei Inhalte">
  <p:cSld name="Titel und zwei Inhalt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880586" y="2252801"/>
            <a:ext cx="5755935" cy="443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▪"/>
              <a:defRPr sz="2600"/>
            </a:lvl3pPr>
            <a:lvl4pPr indent="-374650" lvl="3" marL="1828800" algn="l">
              <a:spcBef>
                <a:spcPts val="460"/>
              </a:spcBef>
              <a:spcAft>
                <a:spcPts val="0"/>
              </a:spcAft>
              <a:buSzPts val="2300"/>
              <a:buChar char="▪"/>
              <a:defRPr sz="2300"/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/>
            </a:lvl5pPr>
            <a:lvl6pPr indent="-393700" lvl="5" marL="2743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indent="-393700" lvl="6" marL="3200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indent="-393700" lvl="7" marL="3657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indent="-393700" lvl="8" marL="4114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7002493" y="2252801"/>
            <a:ext cx="5755935" cy="443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▪"/>
              <a:defRPr sz="2600"/>
            </a:lvl3pPr>
            <a:lvl4pPr indent="-374650" lvl="3" marL="1828800" algn="l">
              <a:spcBef>
                <a:spcPts val="460"/>
              </a:spcBef>
              <a:spcAft>
                <a:spcPts val="0"/>
              </a:spcAft>
              <a:buSzPts val="2300"/>
              <a:buChar char="▪"/>
              <a:defRPr sz="2300"/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/>
            </a:lvl5pPr>
            <a:lvl6pPr indent="-393700" lvl="5" marL="2743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indent="-393700" lvl="6" marL="3200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indent="-393700" lvl="7" marL="3657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indent="-393700" lvl="8" marL="4114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>
            <a:off x="880585" y="7010554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>
            <a:off x="880588" y="6782073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1" name="Google Shape;51;p18"/>
          <p:cNvSpPr txBox="1"/>
          <p:nvPr>
            <p:ph idx="3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llkommen/welcome">
  <p:cSld name="Willkommen/welcom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/>
          <p:nvPr/>
        </p:nvSpPr>
        <p:spPr>
          <a:xfrm>
            <a:off x="1" y="6533924"/>
            <a:ext cx="679590" cy="7812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4800" lIns="129600" spcFirstLastPara="1" rIns="129600" wrap="square" tIns="6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938125" cy="348528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9"/>
          <p:cNvSpPr/>
          <p:nvPr>
            <p:ph idx="2" type="pic"/>
          </p:nvPr>
        </p:nvSpPr>
        <p:spPr>
          <a:xfrm>
            <a:off x="1" y="0"/>
            <a:ext cx="12938124" cy="3481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9"/>
          <p:cNvSpPr/>
          <p:nvPr>
            <p:ph idx="3" type="pic"/>
          </p:nvPr>
        </p:nvSpPr>
        <p:spPr>
          <a:xfrm>
            <a:off x="11206304" y="307059"/>
            <a:ext cx="1361199" cy="503485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9"/>
          <p:cNvSpPr txBox="1"/>
          <p:nvPr>
            <p:ph type="title"/>
          </p:nvPr>
        </p:nvSpPr>
        <p:spPr>
          <a:xfrm>
            <a:off x="0" y="3430400"/>
            <a:ext cx="12938125" cy="76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76525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  <a:defRPr sz="4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880512" y="4285442"/>
            <a:ext cx="11686991" cy="17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indent="-342900" lvl="1" marL="914400" algn="l">
              <a:spcBef>
                <a:spcPts val="851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4" type="body"/>
          </p:nvPr>
        </p:nvSpPr>
        <p:spPr>
          <a:xfrm>
            <a:off x="7639335" y="2981153"/>
            <a:ext cx="4928169" cy="3273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5" type="body"/>
          </p:nvPr>
        </p:nvSpPr>
        <p:spPr>
          <a:xfrm>
            <a:off x="880512" y="6839321"/>
            <a:ext cx="10521108" cy="284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6" type="body"/>
          </p:nvPr>
        </p:nvSpPr>
        <p:spPr>
          <a:xfrm>
            <a:off x="880510" y="6035161"/>
            <a:ext cx="2568027" cy="4987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9"/>
          <p:cNvSpPr/>
          <p:nvPr/>
        </p:nvSpPr>
        <p:spPr>
          <a:xfrm>
            <a:off x="1" y="6707200"/>
            <a:ext cx="761591" cy="6141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64800" lIns="129600" spcFirstLastPara="1" rIns="129600" wrap="square" tIns="6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süberschrift">
  <p:cSld name="Abschnittsüberschrif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1022023" y="2080860"/>
            <a:ext cx="10997406" cy="1452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b="0" sz="57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" type="body"/>
          </p:nvPr>
        </p:nvSpPr>
        <p:spPr>
          <a:xfrm>
            <a:off x="1022023" y="3842183"/>
            <a:ext cx="10997406" cy="1600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520"/>
              </a:spcBef>
              <a:spcAft>
                <a:spcPts val="0"/>
              </a:spcAft>
              <a:buSzPts val="2600"/>
              <a:buNone/>
              <a:defRPr sz="26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880585" y="7010554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880588" y="6782073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9" name="Google Shape;69;p20"/>
          <p:cNvSpPr txBox="1"/>
          <p:nvPr>
            <p:ph idx="2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hne Inhalt">
  <p:cSld name="Titel ohne Inhal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80585" y="7010554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880588" y="6782073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hne inhalt">
  <p:cSld name="Ohne inhal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80585" y="7010554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880588" y="6782073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1" y="715716"/>
            <a:ext cx="610968" cy="614116"/>
          </a:xfrm>
          <a:prstGeom prst="rect">
            <a:avLst/>
          </a:prstGeom>
          <a:solidFill>
            <a:srgbClr val="F70146"/>
          </a:solidFill>
          <a:ln>
            <a:noFill/>
          </a:ln>
        </p:spPr>
        <p:txBody>
          <a:bodyPr anchorCtr="0" anchor="ctr" bIns="64800" lIns="129600" spcFirstLastPara="1" rIns="129600" wrap="square" tIns="6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4"/>
          <p:cNvSpPr/>
          <p:nvPr/>
        </p:nvSpPr>
        <p:spPr>
          <a:xfrm>
            <a:off x="0" y="6707200"/>
            <a:ext cx="12938125" cy="6141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64800" lIns="129600" spcFirstLastPara="1" rIns="129600" wrap="square" tIns="6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880588" y="2251220"/>
            <a:ext cx="11877840" cy="438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F7014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4650" lvl="3" marL="1828800" marR="0" rtl="0" algn="l">
              <a:spcBef>
                <a:spcPts val="460"/>
              </a:spcBef>
              <a:spcAft>
                <a:spcPts val="0"/>
              </a:spcAft>
              <a:buClr>
                <a:srgbClr val="A5A5A5"/>
              </a:buClr>
              <a:buSzPts val="2300"/>
              <a:buFont typeface="Noto Sans Symbols"/>
              <a:buChar char="▪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erriweather Sans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80585" y="7010554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880588" y="6782073"/>
            <a:ext cx="11715625" cy="21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17" name="Google Shape;17;p14"/>
          <p:cNvCxnSpPr/>
          <p:nvPr/>
        </p:nvCxnSpPr>
        <p:spPr>
          <a:xfrm>
            <a:off x="880588" y="715716"/>
            <a:ext cx="1186885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4"/>
          <p:cNvSpPr txBox="1"/>
          <p:nvPr/>
        </p:nvSpPr>
        <p:spPr>
          <a:xfrm>
            <a:off x="6702012" y="6639844"/>
            <a:ext cx="4386586" cy="744135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129600" spcFirstLastPara="1" rIns="129600" wrap="square" tIns="648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Am Folienmaster Abteilungslogo bei Bedarf innerhalb des </a:t>
            </a:r>
            <a:br>
              <a:rPr b="0" i="0" lang="de-DE" sz="1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blauen Feldes einfügen und blauen Platzhalter löschen.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de-DE" sz="1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If required, insert the departmental logo inside the blue field </a:t>
            </a:r>
            <a:br>
              <a:rPr b="0" i="1" lang="de-DE" sz="1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on the slide master and delete the blue placeholder.</a:t>
            </a:r>
            <a:endParaRPr b="0" i="1" sz="1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4"/>
          <p:cNvGrpSpPr/>
          <p:nvPr/>
        </p:nvGrpSpPr>
        <p:grpSpPr>
          <a:xfrm>
            <a:off x="11088599" y="6730836"/>
            <a:ext cx="1500709" cy="509456"/>
            <a:chOff x="7778750" y="6378158"/>
            <a:chExt cx="1176338" cy="397292"/>
          </a:xfrm>
        </p:grpSpPr>
        <p:sp>
          <p:nvSpPr>
            <p:cNvPr id="20" name="Google Shape;20;p14"/>
            <p:cNvSpPr/>
            <p:nvPr/>
          </p:nvSpPr>
          <p:spPr>
            <a:xfrm>
              <a:off x="7778750" y="6410936"/>
              <a:ext cx="1176338" cy="364514"/>
            </a:xfrm>
            <a:prstGeom prst="rect">
              <a:avLst/>
            </a:prstGeom>
            <a:solidFill>
              <a:srgbClr val="3366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4"/>
            <p:cNvSpPr txBox="1"/>
            <p:nvPr/>
          </p:nvSpPr>
          <p:spPr>
            <a:xfrm>
              <a:off x="7778751" y="6378158"/>
              <a:ext cx="1176337" cy="396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de-DE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Platzhalter Abteilungslogo </a:t>
              </a:r>
              <a:br>
                <a:rPr b="0" i="0" lang="de-DE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1" lang="de-DE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place holder </a:t>
              </a:r>
              <a:br>
                <a:rPr b="0" i="1" lang="de-DE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1" lang="de-DE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departement logo</a:t>
              </a:r>
              <a:endParaRPr/>
            </a:p>
          </p:txBody>
        </p:sp>
      </p:grpSp>
      <p:pic>
        <p:nvPicPr>
          <p:cNvPr descr="TU-Graz-logo-RGB-echte-Farbwerte.jpg" id="22" name="Google Shape;22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23017" y="150773"/>
            <a:ext cx="1226426" cy="45380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type="ctrTitle"/>
          </p:nvPr>
        </p:nvSpPr>
        <p:spPr>
          <a:xfrm>
            <a:off x="880589" y="1392640"/>
            <a:ext cx="8659375" cy="2426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70146"/>
              </a:buClr>
              <a:buSzPct val="100000"/>
              <a:buFont typeface="Arial"/>
              <a:buNone/>
            </a:pPr>
            <a:r>
              <a:rPr lang="de-DE"/>
              <a:t>Automated High-depth Privacy-preserving Polynomial Approximation Evaluation</a:t>
            </a:r>
            <a:endParaRPr/>
          </a:p>
        </p:txBody>
      </p:sp>
      <p:sp>
        <p:nvSpPr>
          <p:cNvPr id="86" name="Google Shape;86;p2"/>
          <p:cNvSpPr txBox="1"/>
          <p:nvPr>
            <p:ph idx="10" type="dt"/>
          </p:nvPr>
        </p:nvSpPr>
        <p:spPr>
          <a:xfrm>
            <a:off x="880591" y="4802560"/>
            <a:ext cx="8659375" cy="3601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Supervisor: Aikata Aikata</a:t>
            </a:r>
            <a:endParaRPr/>
          </a:p>
        </p:txBody>
      </p:sp>
      <p:sp>
        <p:nvSpPr>
          <p:cNvPr id="87" name="Google Shape;87;p2"/>
          <p:cNvSpPr txBox="1"/>
          <p:nvPr>
            <p:ph idx="11" type="ftr"/>
          </p:nvPr>
        </p:nvSpPr>
        <p:spPr>
          <a:xfrm>
            <a:off x="880589" y="3865600"/>
            <a:ext cx="8659375" cy="803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Tatiana Kirillova</a:t>
            </a:r>
            <a:endParaRPr/>
          </a:p>
        </p:txBody>
      </p:sp>
      <p:sp>
        <p:nvSpPr>
          <p:cNvPr id="88" name="Google Shape;88;p2"/>
          <p:cNvSpPr txBox="1"/>
          <p:nvPr>
            <p:ph idx="1" type="body"/>
          </p:nvPr>
        </p:nvSpPr>
        <p:spPr>
          <a:xfrm>
            <a:off x="880512" y="6839321"/>
            <a:ext cx="105210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DE"/>
              <a:t>September, 2024</a:t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Homomorphic encryption</a:t>
            </a:r>
            <a:endParaRPr b="1"/>
          </a:p>
        </p:txBody>
      </p:sp>
      <p:sp>
        <p:nvSpPr>
          <p:cNvPr id="95" name="Google Shape;95;p3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6" name="Google Shape;96;p3"/>
          <p:cNvSpPr txBox="1"/>
          <p:nvPr>
            <p:ph idx="2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813" y="2119394"/>
            <a:ext cx="5810506" cy="435787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80512" y="6839321"/>
            <a:ext cx="105210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DE" sz="1800"/>
              <a:t>September, 2024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Homomorphism</a:t>
            </a:r>
            <a:endParaRPr b="1"/>
          </a:p>
        </p:txBody>
      </p:sp>
      <p:sp>
        <p:nvSpPr>
          <p:cNvPr id="105" name="Google Shape;105;p4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80575" y="2252800"/>
            <a:ext cx="5755800" cy="27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de-DE"/>
              <a:t>Homomorphism = map between two algebraic sets if the same </a:t>
            </a:r>
            <a:r>
              <a:rPr lang="de-DE"/>
              <a:t>type.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de-DE"/>
              <a:t>An encryption scheme is homomorphic if: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075" y="1329819"/>
            <a:ext cx="5810506" cy="435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0600" y="5029300"/>
            <a:ext cx="648081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880512" y="6839321"/>
            <a:ext cx="105210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DE" sz="1800"/>
              <a:t>September, 2024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OpenFHE</a:t>
            </a:r>
            <a:endParaRPr b="1"/>
          </a:p>
        </p:txBody>
      </p:sp>
      <p:sp>
        <p:nvSpPr>
          <p:cNvPr id="117" name="Google Shape;117;p7"/>
          <p:cNvSpPr txBox="1"/>
          <p:nvPr>
            <p:ph idx="1" type="body"/>
          </p:nvPr>
        </p:nvSpPr>
        <p:spPr>
          <a:xfrm>
            <a:off x="880586" y="2252801"/>
            <a:ext cx="5755935" cy="443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de-DE"/>
              <a:t>Framework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de-DE"/>
              <a:t>Has all of the schemes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de-DE"/>
              <a:t>User-friendly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de-DE"/>
              <a:t>Tutorials</a:t>
            </a:r>
            <a:endParaRPr/>
          </a:p>
        </p:txBody>
      </p:sp>
      <p:sp>
        <p:nvSpPr>
          <p:cNvPr id="118" name="Google Shape;118;p7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9" name="Google Shape;119;p7"/>
          <p:cNvSpPr txBox="1"/>
          <p:nvPr>
            <p:ph idx="3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0" name="Google Shape;12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1885" y="4113675"/>
            <a:ext cx="2315625" cy="23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CKKS Scheme</a:t>
            </a:r>
            <a:endParaRPr b="1"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880588" y="2251220"/>
            <a:ext cx="11877840" cy="438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approximate FHE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supports computations of real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applicable for Privacy-Preserving Machine Learning</a:t>
            </a:r>
            <a:endParaRPr/>
          </a:p>
        </p:txBody>
      </p:sp>
      <p:sp>
        <p:nvSpPr>
          <p:cNvPr id="129" name="Google Shape;129;p6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0" name="Google Shape;130;p6"/>
          <p:cNvSpPr txBox="1"/>
          <p:nvPr>
            <p:ph idx="2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2e980fd0f_2_180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Privacy-preserving Machine Learning</a:t>
            </a:r>
            <a:endParaRPr b="1"/>
          </a:p>
        </p:txBody>
      </p:sp>
      <p:sp>
        <p:nvSpPr>
          <p:cNvPr id="139" name="Google Shape;139;g302e980fd0f_2_180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0" name="Google Shape;140;g302e980fd0f_2_180"/>
          <p:cNvSpPr txBox="1"/>
          <p:nvPr>
            <p:ph idx="2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g302e980fd0f_2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79675" y="487175"/>
            <a:ext cx="7117475" cy="71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02e980fd0f_2_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0600" y="2382799"/>
            <a:ext cx="7951650" cy="795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02e980fd0f_2_180"/>
          <p:cNvSpPr/>
          <p:nvPr/>
        </p:nvSpPr>
        <p:spPr>
          <a:xfrm>
            <a:off x="4222875" y="4013675"/>
            <a:ext cx="134700" cy="286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02e980fd0f_2_180"/>
          <p:cNvSpPr/>
          <p:nvPr/>
        </p:nvSpPr>
        <p:spPr>
          <a:xfrm>
            <a:off x="5040290" y="4013671"/>
            <a:ext cx="134700" cy="286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g302e980fd0f_2_1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4998" y="249400"/>
            <a:ext cx="7714200" cy="578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02e980fd0f_2_180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02e980fd0f_2_180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2e980fd0f_2_204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Logistic regression</a:t>
            </a:r>
            <a:endParaRPr b="1"/>
          </a:p>
        </p:txBody>
      </p:sp>
      <p:sp>
        <p:nvSpPr>
          <p:cNvPr id="154" name="Google Shape;154;g302e980fd0f_2_204"/>
          <p:cNvSpPr txBox="1"/>
          <p:nvPr>
            <p:ph idx="1" type="body"/>
          </p:nvPr>
        </p:nvSpPr>
        <p:spPr>
          <a:xfrm>
            <a:off x="611094" y="2251225"/>
            <a:ext cx="5909700" cy="4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x is combination of all learned parameters: ex. </a:t>
            </a:r>
            <a:endParaRPr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= w1​ * color + w2​ * shape + b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learned </a:t>
            </a:r>
            <a:r>
              <a:rPr lang="de-DE"/>
              <a:t>parameters, weights, affect the position of the sigmoid on the x axis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02e980fd0f_2_204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6" name="Google Shape;156;g302e980fd0f_2_204"/>
          <p:cNvSpPr txBox="1"/>
          <p:nvPr>
            <p:ph idx="2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g302e980fd0f_2_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00" y="878450"/>
            <a:ext cx="7850724" cy="588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02e980fd0f_2_204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02e980fd0f_2_204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2e980fd0f_2_194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Sigmoid Function</a:t>
            </a:r>
            <a:endParaRPr b="1"/>
          </a:p>
        </p:txBody>
      </p:sp>
      <p:sp>
        <p:nvSpPr>
          <p:cNvPr id="166" name="Google Shape;166;g302e980fd0f_2_194"/>
          <p:cNvSpPr txBox="1"/>
          <p:nvPr>
            <p:ph idx="1" type="body"/>
          </p:nvPr>
        </p:nvSpPr>
        <p:spPr>
          <a:xfrm>
            <a:off x="880594" y="2251225"/>
            <a:ext cx="5943600" cy="4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activation function in logistic regression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cannot be represented as a polynomial and needs to be approximated</a:t>
            </a:r>
            <a:endParaRPr/>
          </a:p>
        </p:txBody>
      </p:sp>
      <p:sp>
        <p:nvSpPr>
          <p:cNvPr id="167" name="Google Shape;167;g302e980fd0f_2_194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8" name="Google Shape;168;g302e980fd0f_2_194"/>
          <p:cNvSpPr txBox="1"/>
          <p:nvPr>
            <p:ph idx="2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g302e980fd0f_2_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3750" y="1690675"/>
            <a:ext cx="4107725" cy="310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02e980fd0f_2_1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2619" y="4506325"/>
            <a:ext cx="57721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02e980fd0f_2_194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02e980fd0f_2_194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2e980fd0f_0_11"/>
          <p:cNvSpPr txBox="1"/>
          <p:nvPr>
            <p:ph idx="1" type="body"/>
          </p:nvPr>
        </p:nvSpPr>
        <p:spPr>
          <a:xfrm>
            <a:off x="880502" y="2919313"/>
            <a:ext cx="4701000" cy="36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-"/>
            </a:pPr>
            <a:r>
              <a:rPr lang="de-DE"/>
              <a:t>Numpy Polynomial.fit()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de-DE"/>
              <a:t>least-squares</a:t>
            </a:r>
            <a:r>
              <a:rPr lang="de-DE"/>
              <a:t> fit</a:t>
            </a:r>
            <a:endParaRPr/>
          </a:p>
        </p:txBody>
      </p:sp>
      <p:sp>
        <p:nvSpPr>
          <p:cNvPr id="179" name="Google Shape;179;g302e980fd0f_0_11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Sigmoid - Polynomial Approximation</a:t>
            </a:r>
            <a:endParaRPr b="1"/>
          </a:p>
        </p:txBody>
      </p:sp>
      <p:sp>
        <p:nvSpPr>
          <p:cNvPr id="180" name="Google Shape;180;g302e980fd0f_0_11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81" name="Google Shape;181;g302e980fd0f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070" y="1574976"/>
            <a:ext cx="3508918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02e980fd0f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6475" y="1718992"/>
            <a:ext cx="5587025" cy="93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g302e980fd0f_0_11"/>
          <p:cNvCxnSpPr>
            <a:stCxn id="181" idx="3"/>
            <a:endCxn id="182" idx="1"/>
          </p:cNvCxnSpPr>
          <p:nvPr/>
        </p:nvCxnSpPr>
        <p:spPr>
          <a:xfrm>
            <a:off x="4571988" y="2184576"/>
            <a:ext cx="175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g302e980fd0f_0_11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02e980fd0f_0_11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pic>
        <p:nvPicPr>
          <p:cNvPr id="186" name="Google Shape;186;g302e980fd0f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2550" y="3847700"/>
            <a:ext cx="3615540" cy="2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02e980fd0f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08875" y="3847699"/>
            <a:ext cx="3615510" cy="272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02e980fd0f_0_11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2e980fd0f_2_172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FHERMA Challenges</a:t>
            </a:r>
            <a:endParaRPr b="1"/>
          </a:p>
        </p:txBody>
      </p:sp>
      <p:sp>
        <p:nvSpPr>
          <p:cNvPr id="195" name="Google Shape;195;g302e980fd0f_2_172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96" name="Google Shape;196;g302e980fd0f_2_172"/>
          <p:cNvSpPr txBox="1"/>
          <p:nvPr>
            <p:ph idx="2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g302e980fd0f_2_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600" y="1577975"/>
            <a:ext cx="8499026" cy="24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02e980fd0f_2_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0600" y="4214200"/>
            <a:ext cx="8499018" cy="24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02e980fd0f_2_172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02e980fd0f_2_172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02e980fd0f_2_10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Multiplicative Depth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02e980fd0f_2_10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08" name="Google Shape;208;g302e980fd0f_2_10"/>
          <p:cNvSpPr txBox="1"/>
          <p:nvPr>
            <p:ph idx="2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g302e980fd0f_2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1825" y="2847969"/>
            <a:ext cx="931545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02e980fd0f_2_10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02e980fd0f_2_10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Multiplicative Depth</a:t>
            </a:r>
            <a:endParaRPr b="1"/>
          </a:p>
        </p:txBody>
      </p:sp>
      <p:sp>
        <p:nvSpPr>
          <p:cNvPr id="217" name="Google Shape;217;p8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18" name="Google Shape;21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075" y="2252800"/>
            <a:ext cx="6289349" cy="366981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>
            <p:ph idx="1" type="body"/>
          </p:nvPr>
        </p:nvSpPr>
        <p:spPr>
          <a:xfrm>
            <a:off x="880586" y="2252801"/>
            <a:ext cx="5755800" cy="4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-"/>
            </a:pPr>
            <a:r>
              <a:rPr lang="de-DE">
                <a:solidFill>
                  <a:srgbClr val="000000"/>
                </a:solidFill>
              </a:rPr>
              <a:t>binary tree decomposition technique</a:t>
            </a:r>
            <a:endParaRPr/>
          </a:p>
        </p:txBody>
      </p:sp>
      <p:sp>
        <p:nvSpPr>
          <p:cNvPr id="220" name="Google Shape;220;p8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0467560b14_0_120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Multiplicative Depth</a:t>
            </a:r>
            <a:endParaRPr b="1"/>
          </a:p>
        </p:txBody>
      </p:sp>
      <p:sp>
        <p:nvSpPr>
          <p:cNvPr id="228" name="Google Shape;228;g30467560b14_0_120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29" name="Google Shape;229;g30467560b14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075" y="2252800"/>
            <a:ext cx="6289349" cy="366981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0467560b14_0_120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0467560b14_0_120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0467560b14_0_120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pic>
        <p:nvPicPr>
          <p:cNvPr id="233" name="Google Shape;233;g30467560b14_0_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300" y="2269226"/>
            <a:ext cx="5886623" cy="36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0467560b14_0_120"/>
          <p:cNvSpPr txBox="1"/>
          <p:nvPr/>
        </p:nvSpPr>
        <p:spPr>
          <a:xfrm>
            <a:off x="269300" y="6017325"/>
            <a:ext cx="962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depth = 4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0467560b14_0_133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Multiplicative Depth</a:t>
            </a:r>
            <a:endParaRPr b="1"/>
          </a:p>
        </p:txBody>
      </p:sp>
      <p:sp>
        <p:nvSpPr>
          <p:cNvPr id="240" name="Google Shape;240;g30467560b14_0_133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41" name="Google Shape;241;g30467560b14_0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075" y="2252800"/>
            <a:ext cx="6289349" cy="366981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0467560b14_0_133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0467560b14_0_133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0467560b14_0_133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pic>
        <p:nvPicPr>
          <p:cNvPr id="245" name="Google Shape;245;g30467560b14_0_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300" y="2269226"/>
            <a:ext cx="5886623" cy="36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0467560b14_0_133"/>
          <p:cNvSpPr txBox="1"/>
          <p:nvPr/>
        </p:nvSpPr>
        <p:spPr>
          <a:xfrm>
            <a:off x="2525191" y="2219397"/>
            <a:ext cx="7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rgbClr val="980000"/>
                </a:solidFill>
              </a:rPr>
              <a:t>c*</a:t>
            </a:r>
            <a:endParaRPr sz="2000">
              <a:solidFill>
                <a:srgbClr val="980000"/>
              </a:solidFill>
            </a:endParaRPr>
          </a:p>
        </p:txBody>
      </p:sp>
      <p:cxnSp>
        <p:nvCxnSpPr>
          <p:cNvPr id="247" name="Google Shape;247;g30467560b14_0_133"/>
          <p:cNvCxnSpPr>
            <a:endCxn id="246" idx="1"/>
          </p:cNvCxnSpPr>
          <p:nvPr/>
        </p:nvCxnSpPr>
        <p:spPr>
          <a:xfrm>
            <a:off x="1773691" y="1693497"/>
            <a:ext cx="751500" cy="77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g30467560b14_0_133"/>
          <p:cNvSpPr txBox="1"/>
          <p:nvPr/>
        </p:nvSpPr>
        <p:spPr>
          <a:xfrm>
            <a:off x="269300" y="6017325"/>
            <a:ext cx="962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depth = </a:t>
            </a:r>
            <a:r>
              <a:rPr lang="de-DE" sz="2800">
                <a:solidFill>
                  <a:srgbClr val="980000"/>
                </a:solidFill>
              </a:rPr>
              <a:t>5</a:t>
            </a:r>
            <a:endParaRPr sz="2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467560b14_0_100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Multiplicative Depth</a:t>
            </a:r>
            <a:endParaRPr b="1"/>
          </a:p>
        </p:txBody>
      </p:sp>
      <p:sp>
        <p:nvSpPr>
          <p:cNvPr id="254" name="Google Shape;254;g30467560b14_0_100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55" name="Google Shape;255;g30467560b14_0_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075" y="2252800"/>
            <a:ext cx="6289349" cy="366981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0467560b14_0_100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0467560b14_0_100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0467560b14_0_100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pic>
        <p:nvPicPr>
          <p:cNvPr id="259" name="Google Shape;259;g30467560b14_0_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11588"/>
            <a:ext cx="6224624" cy="374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g30467560b14_0_100"/>
          <p:cNvCxnSpPr/>
          <p:nvPr/>
        </p:nvCxnSpPr>
        <p:spPr>
          <a:xfrm flipH="1">
            <a:off x="537775" y="2261375"/>
            <a:ext cx="968700" cy="324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g30467560b14_0_100"/>
          <p:cNvSpPr txBox="1"/>
          <p:nvPr/>
        </p:nvSpPr>
        <p:spPr>
          <a:xfrm>
            <a:off x="269300" y="6017325"/>
            <a:ext cx="962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depth = 4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2e980fd0f_2_126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EvalPoly</a:t>
            </a:r>
            <a:endParaRPr b="1"/>
          </a:p>
        </p:txBody>
      </p:sp>
      <p:sp>
        <p:nvSpPr>
          <p:cNvPr id="268" name="Google Shape;268;g302e980fd0f_2_126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69" name="Google Shape;269;g302e980fd0f_2_126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g302e980fd0f_2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413" y="3105144"/>
            <a:ext cx="88773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02e980fd0f_2_126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02e980fd0f_2_126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Our Implementation</a:t>
            </a:r>
            <a:r>
              <a:rPr b="1" lang="de-DE"/>
              <a:t> </a:t>
            </a:r>
            <a:endParaRPr b="1"/>
          </a:p>
        </p:txBody>
      </p:sp>
      <p:sp>
        <p:nvSpPr>
          <p:cNvPr id="278" name="Google Shape;278;p10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9" name="Google Shape;279;p10"/>
          <p:cNvSpPr txBox="1"/>
          <p:nvPr>
            <p:ph idx="2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 txBox="1"/>
          <p:nvPr>
            <p:ph idx="1" type="body"/>
          </p:nvPr>
        </p:nvSpPr>
        <p:spPr>
          <a:xfrm>
            <a:off x="880588" y="2251220"/>
            <a:ext cx="11877900" cy="4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sum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recursive tree evaluation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de-DE"/>
              <a:t>base case</a:t>
            </a:r>
            <a:r>
              <a:rPr lang="de-DE"/>
              <a:t>: </a:t>
            </a:r>
            <a:r>
              <a:rPr lang="de-DE">
                <a:solidFill>
                  <a:srgbClr val="FF0000"/>
                </a:solidFill>
              </a:rPr>
              <a:t>power</a:t>
            </a:r>
            <a:r>
              <a:rPr lang="de-DE"/>
              <a:t> = 1 with a flag </a:t>
            </a:r>
            <a:r>
              <a:rPr lang="de-DE">
                <a:solidFill>
                  <a:srgbClr val="FF0000"/>
                </a:solidFill>
              </a:rPr>
              <a:t>coeffUsed</a:t>
            </a:r>
            <a:r>
              <a:rPr lang="de-DE"/>
              <a:t> set to </a:t>
            </a:r>
            <a:r>
              <a:rPr lang="de-DE">
                <a:solidFill>
                  <a:srgbClr val="FF0000"/>
                </a:solidFill>
              </a:rPr>
              <a:t>true</a:t>
            </a:r>
            <a:endParaRPr>
              <a:solidFill>
                <a:srgbClr val="FF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de-DE"/>
              <a:t>if power odd =&gt; eval()</a:t>
            </a:r>
            <a:endParaRPr/>
          </a:p>
        </p:txBody>
      </p:sp>
      <p:pic>
        <p:nvPicPr>
          <p:cNvPr id="281" name="Google Shape;28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600" y="5108942"/>
            <a:ext cx="5587025" cy="9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 txBox="1"/>
          <p:nvPr>
            <p:ph type="title"/>
          </p:nvPr>
        </p:nvSpPr>
        <p:spPr>
          <a:xfrm>
            <a:off x="880588" y="900194"/>
            <a:ext cx="118778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Coefficient Splitting</a:t>
            </a:r>
            <a:endParaRPr b="1"/>
          </a:p>
        </p:txBody>
      </p:sp>
      <p:sp>
        <p:nvSpPr>
          <p:cNvPr id="289" name="Google Shape;289;p11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90" name="Google Shape;290;p11"/>
          <p:cNvSpPr txBox="1"/>
          <p:nvPr>
            <p:ph idx="2" type="body"/>
          </p:nvPr>
        </p:nvSpPr>
        <p:spPr>
          <a:xfrm>
            <a:off x="880588" y="349998"/>
            <a:ext cx="10187500" cy="2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2416213" y="2710525"/>
            <a:ext cx="81057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array([ 5.00000000e-01,  2.26806207e-01,  7.10213751e-11, -1.07117796e-02,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-1.41439692e-12,  3.52123146e-04,  1.27758476e-14, -7.05240408e-06,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-4.73856319e-17,  8.99429984e-08, -2.05300071e-18, -7.61584637e-10,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5.04075306e-20,  4.39092971e-12, -5.50984144e-22, -1.73238634e-14,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3.58582142e-24,  4.55363924e-17, -1.51640495e-26, -7.13526075e-20,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4.28088613e-29,  3.14409283e-23, -7.95812290e-32,  1.26765549e-25,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9.05003211e-35, -3.19383668e-28, -4.70167613e-38,  3.58641738e-31,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-1.54055379e-41, -2.09459946e-34,  3.37570182e-44,  5.15557487e-38,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-1.31014816e-47])</a:t>
            </a:r>
            <a:endParaRPr sz="1700">
              <a:solidFill>
                <a:schemeClr val="dk1"/>
              </a:solidFill>
            </a:endParaRPr>
          </a:p>
        </p:txBody>
      </p:sp>
      <p:cxnSp>
        <p:nvCxnSpPr>
          <p:cNvPr id="294" name="Google Shape;294;p11"/>
          <p:cNvCxnSpPr>
            <a:endCxn id="295" idx="3"/>
          </p:cNvCxnSpPr>
          <p:nvPr/>
        </p:nvCxnSpPr>
        <p:spPr>
          <a:xfrm flipH="1" rot="10800000">
            <a:off x="2074289" y="4707086"/>
            <a:ext cx="1311900" cy="6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11"/>
          <p:cNvSpPr/>
          <p:nvPr/>
        </p:nvSpPr>
        <p:spPr>
          <a:xfrm>
            <a:off x="3109800" y="4365750"/>
            <a:ext cx="1887300" cy="3999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02e980fd0f_2_85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Coefficient Splitting - Thresholds</a:t>
            </a:r>
            <a:endParaRPr b="1"/>
          </a:p>
        </p:txBody>
      </p:sp>
      <p:sp>
        <p:nvSpPr>
          <p:cNvPr id="301" name="Google Shape;301;g302e980fd0f_2_85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02" name="Google Shape;302;g302e980fd0f_2_85"/>
          <p:cNvSpPr txBox="1"/>
          <p:nvPr>
            <p:ph idx="1" type="body"/>
          </p:nvPr>
        </p:nvSpPr>
        <p:spPr>
          <a:xfrm>
            <a:off x="880586" y="2252801"/>
            <a:ext cx="5755800" cy="4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de-DE"/>
              <a:t>10</a:t>
            </a:r>
            <a:r>
              <a:rPr baseline="30000" lang="de-DE"/>
              <a:t>-10</a:t>
            </a:r>
            <a:r>
              <a:rPr lang="de-DE"/>
              <a:t>  -&gt; {c*10</a:t>
            </a:r>
            <a:r>
              <a:rPr baseline="30000" lang="de-DE"/>
              <a:t>10</a:t>
            </a:r>
            <a:r>
              <a:rPr lang="de-DE"/>
              <a:t>, 10</a:t>
            </a:r>
            <a:r>
              <a:rPr baseline="30000" lang="de-DE"/>
              <a:t>-5</a:t>
            </a:r>
            <a:r>
              <a:rPr lang="de-DE"/>
              <a:t>, 10</a:t>
            </a:r>
            <a:r>
              <a:rPr baseline="30000" lang="de-DE"/>
              <a:t>-5</a:t>
            </a:r>
            <a:r>
              <a:rPr lang="de-DE"/>
              <a:t> }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de-DE"/>
              <a:t>10</a:t>
            </a:r>
            <a:r>
              <a:rPr baseline="30000" lang="de-DE"/>
              <a:t>-20</a:t>
            </a:r>
            <a:r>
              <a:rPr lang="de-DE"/>
              <a:t>  -&gt; {c*10</a:t>
            </a:r>
            <a:r>
              <a:rPr baseline="30000" lang="de-DE"/>
              <a:t>20</a:t>
            </a:r>
            <a:r>
              <a:rPr lang="de-DE"/>
              <a:t>, 10</a:t>
            </a:r>
            <a:r>
              <a:rPr baseline="30000" lang="de-DE"/>
              <a:t>5</a:t>
            </a:r>
            <a:r>
              <a:rPr lang="de-DE"/>
              <a:t>, 10</a:t>
            </a:r>
            <a:r>
              <a:rPr baseline="30000" lang="de-DE"/>
              <a:t>5</a:t>
            </a:r>
            <a:r>
              <a:rPr lang="de-DE"/>
              <a:t>, 10</a:t>
            </a:r>
            <a:r>
              <a:rPr baseline="30000" lang="de-DE"/>
              <a:t>5</a:t>
            </a:r>
            <a:r>
              <a:rPr lang="de-DE"/>
              <a:t>, 10</a:t>
            </a:r>
            <a:r>
              <a:rPr baseline="30000" lang="de-DE"/>
              <a:t>5</a:t>
            </a:r>
            <a:r>
              <a:rPr lang="de-DE"/>
              <a:t>}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de-DE"/>
              <a:t>10</a:t>
            </a:r>
            <a:r>
              <a:rPr baseline="30000" lang="de-DE"/>
              <a:t>-40</a:t>
            </a:r>
            <a:r>
              <a:rPr lang="de-DE"/>
              <a:t>  -&gt; {c*10</a:t>
            </a:r>
            <a:r>
              <a:rPr baseline="30000" lang="de-DE"/>
              <a:t>40</a:t>
            </a:r>
            <a:r>
              <a:rPr lang="de-DE"/>
              <a:t>, 10</a:t>
            </a:r>
            <a:r>
              <a:rPr baseline="30000" lang="de-DE"/>
              <a:t>5</a:t>
            </a:r>
            <a:r>
              <a:rPr lang="de-DE"/>
              <a:t>, 10</a:t>
            </a:r>
            <a:r>
              <a:rPr baseline="30000" lang="de-DE"/>
              <a:t>5</a:t>
            </a:r>
            <a:r>
              <a:rPr lang="de-DE"/>
              <a:t> …}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de-DE"/>
              <a:t>10</a:t>
            </a:r>
            <a:r>
              <a:rPr baseline="30000" lang="de-DE"/>
              <a:t>-80</a:t>
            </a:r>
            <a:r>
              <a:rPr lang="de-DE"/>
              <a:t>  -&gt; {c*10</a:t>
            </a:r>
            <a:r>
              <a:rPr baseline="30000" lang="de-DE"/>
              <a:t>80</a:t>
            </a:r>
            <a:r>
              <a:rPr lang="de-DE"/>
              <a:t>, 10</a:t>
            </a:r>
            <a:r>
              <a:rPr baseline="30000" lang="de-DE"/>
              <a:t>5</a:t>
            </a:r>
            <a:r>
              <a:rPr lang="de-DE"/>
              <a:t>, 10</a:t>
            </a:r>
            <a:r>
              <a:rPr baseline="30000" lang="de-DE"/>
              <a:t>5</a:t>
            </a:r>
            <a:r>
              <a:rPr lang="de-DE"/>
              <a:t> … }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02e980fd0f_2_85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g302e980fd0f_2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386" y="1814594"/>
            <a:ext cx="5996939" cy="26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02e980fd0f_2_85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02e980fd0f_2_85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0467560b14_0_201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Coefficient Splitting </a:t>
            </a:r>
            <a:endParaRPr b="1"/>
          </a:p>
        </p:txBody>
      </p:sp>
      <p:sp>
        <p:nvSpPr>
          <p:cNvPr id="312" name="Google Shape;312;g30467560b14_0_201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313" name="Google Shape;313;g30467560b14_0_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0150" y="2556700"/>
            <a:ext cx="5037046" cy="293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0467560b14_0_201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0467560b14_0_201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0467560b14_0_201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sp>
        <p:nvSpPr>
          <p:cNvPr id="317" name="Google Shape;317;g30467560b14_0_201"/>
          <p:cNvSpPr txBox="1"/>
          <p:nvPr/>
        </p:nvSpPr>
        <p:spPr>
          <a:xfrm>
            <a:off x="269300" y="6017325"/>
            <a:ext cx="962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depth = 4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18" name="Google Shape;318;g30467560b14_0_2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50" y="2432670"/>
            <a:ext cx="6585351" cy="3097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02e980fd0f_2_96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Term pre-generation</a:t>
            </a:r>
            <a:endParaRPr b="1"/>
          </a:p>
        </p:txBody>
      </p:sp>
      <p:sp>
        <p:nvSpPr>
          <p:cNvPr id="325" name="Google Shape;325;g302e980fd0f_2_96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26" name="Google Shape;326;g302e980fd0f_2_96"/>
          <p:cNvSpPr txBox="1"/>
          <p:nvPr>
            <p:ph idx="2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g302e980fd0f_2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7300" y="1479487"/>
            <a:ext cx="3087750" cy="4356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02e980fd0f_2_96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02e980fd0f_2_96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pic>
        <p:nvPicPr>
          <p:cNvPr id="330" name="Google Shape;330;g302e980fd0f_2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525" y="2119388"/>
            <a:ext cx="6224624" cy="374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de-DE"/>
              <a:t>Results</a:t>
            </a:r>
            <a:endParaRPr b="1"/>
          </a:p>
        </p:txBody>
      </p:sp>
      <p:sp>
        <p:nvSpPr>
          <p:cNvPr id="336" name="Google Shape;336;p13"/>
          <p:cNvSpPr txBox="1"/>
          <p:nvPr>
            <p:ph idx="12" type="sldNum"/>
          </p:nvPr>
        </p:nvSpPr>
        <p:spPr>
          <a:xfrm>
            <a:off x="1" y="715717"/>
            <a:ext cx="610968" cy="614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37" name="Google Shape;337;p13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graphicFrame>
        <p:nvGraphicFramePr>
          <p:cNvPr id="340" name="Google Shape;340;p13"/>
          <p:cNvGraphicFramePr/>
          <p:nvPr/>
        </p:nvGraphicFramePr>
        <p:xfrm>
          <a:off x="952513" y="266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{773BD724-6EF9-441B-9A8D-D7721558AADC}</a:tableStyleId>
              </a:tblPr>
              <a:tblGrid>
                <a:gridCol w="3677700"/>
                <a:gridCol w="3677700"/>
                <a:gridCol w="3677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DE" sz="2400"/>
                        <a:t>Depth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DE" sz="2400"/>
                        <a:t>EvalPoly </a:t>
                      </a:r>
                      <a:r>
                        <a:rPr lang="de-DE" sz="2400"/>
                        <a:t>- </a:t>
                      </a:r>
                      <a:endParaRPr sz="24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max. </a:t>
                      </a:r>
                      <a:r>
                        <a:rPr lang="de-DE" sz="2400"/>
                        <a:t>available </a:t>
                      </a:r>
                      <a:r>
                        <a:rPr lang="de-DE" sz="2400"/>
                        <a:t>degree 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DE" sz="2400"/>
                        <a:t>Our Implementation</a:t>
                      </a:r>
                      <a:r>
                        <a:rPr lang="de-DE" sz="2400"/>
                        <a:t> - max. available degree 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3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5 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7 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4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13 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15 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5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27 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31 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6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60 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/>
                        <a:t>63 </a:t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02e980fd0f_2_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113" y="2794625"/>
            <a:ext cx="3765564" cy="28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02e980fd0f_2_220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Results</a:t>
            </a:r>
            <a:endParaRPr b="1"/>
          </a:p>
        </p:txBody>
      </p:sp>
      <p:sp>
        <p:nvSpPr>
          <p:cNvPr id="348" name="Google Shape;348;g302e980fd0f_2_220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49" name="Google Shape;349;g302e980fd0f_2_220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02e980fd0f_2_220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02e980fd0f_2_220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  <p:pic>
        <p:nvPicPr>
          <p:cNvPr id="352" name="Google Shape;352;g302e980fd0f_2_2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350" y="2794631"/>
            <a:ext cx="3811275" cy="284309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02e980fd0f_2_220"/>
          <p:cNvSpPr txBox="1"/>
          <p:nvPr/>
        </p:nvSpPr>
        <p:spPr>
          <a:xfrm>
            <a:off x="2736925" y="2119400"/>
            <a:ext cx="146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99.04%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54" name="Google Shape;354;g302e980fd0f_2_220"/>
          <p:cNvSpPr txBox="1"/>
          <p:nvPr/>
        </p:nvSpPr>
        <p:spPr>
          <a:xfrm>
            <a:off x="11073050" y="2119388"/>
            <a:ext cx="146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99.94%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355" name="Google Shape;355;g302e980fd0f_2_220"/>
          <p:cNvCxnSpPr>
            <a:stCxn id="352" idx="3"/>
            <a:endCxn id="346" idx="1"/>
          </p:cNvCxnSpPr>
          <p:nvPr/>
        </p:nvCxnSpPr>
        <p:spPr>
          <a:xfrm>
            <a:off x="4206625" y="4216180"/>
            <a:ext cx="40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56" name="Google Shape;356;g302e980fd0f_2_2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7175" y="2794625"/>
            <a:ext cx="3765575" cy="2843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g302e980fd0f_2_220"/>
          <p:cNvCxnSpPr>
            <a:stCxn id="346" idx="3"/>
            <a:endCxn id="356" idx="1"/>
          </p:cNvCxnSpPr>
          <p:nvPr/>
        </p:nvCxnSpPr>
        <p:spPr>
          <a:xfrm>
            <a:off x="8374677" y="4216175"/>
            <a:ext cx="40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g302e980fd0f_2_220"/>
          <p:cNvSpPr txBox="1"/>
          <p:nvPr/>
        </p:nvSpPr>
        <p:spPr>
          <a:xfrm>
            <a:off x="6904975" y="2119400"/>
            <a:ext cx="146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99.47%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59" name="Google Shape;359;g302e980fd0f_2_220"/>
          <p:cNvSpPr txBox="1"/>
          <p:nvPr/>
        </p:nvSpPr>
        <p:spPr>
          <a:xfrm>
            <a:off x="1411488" y="5930725"/>
            <a:ext cx="17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Degree 5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60" name="Google Shape;360;g302e980fd0f_2_220"/>
          <p:cNvSpPr txBox="1"/>
          <p:nvPr/>
        </p:nvSpPr>
        <p:spPr>
          <a:xfrm>
            <a:off x="5579557" y="5866663"/>
            <a:ext cx="17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Degree 7</a:t>
            </a:r>
            <a:endParaRPr/>
          </a:p>
        </p:txBody>
      </p:sp>
      <p:sp>
        <p:nvSpPr>
          <p:cNvPr id="361" name="Google Shape;361;g302e980fd0f_2_220"/>
          <p:cNvSpPr txBox="1"/>
          <p:nvPr/>
        </p:nvSpPr>
        <p:spPr>
          <a:xfrm>
            <a:off x="9622501" y="5866675"/>
            <a:ext cx="204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dk1"/>
                </a:solidFill>
              </a:rPr>
              <a:t>Degree 15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02e980fd0f_2_157"/>
          <p:cNvSpPr txBox="1"/>
          <p:nvPr>
            <p:ph type="title"/>
          </p:nvPr>
        </p:nvSpPr>
        <p:spPr>
          <a:xfrm>
            <a:off x="880588" y="900194"/>
            <a:ext cx="118779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Results</a:t>
            </a:r>
            <a:endParaRPr b="1"/>
          </a:p>
        </p:txBody>
      </p:sp>
      <p:sp>
        <p:nvSpPr>
          <p:cNvPr id="368" name="Google Shape;368;g302e980fd0f_2_157"/>
          <p:cNvSpPr txBox="1"/>
          <p:nvPr>
            <p:ph idx="1" type="body"/>
          </p:nvPr>
        </p:nvSpPr>
        <p:spPr>
          <a:xfrm>
            <a:off x="880611" y="2048926"/>
            <a:ext cx="5755800" cy="4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Degree 27: 99.9977%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Degree 31: 99.9969% -&gt; +0.0008%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Degree 63: 99.9985% -&gt; +0.0016%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de-DE"/>
              <a:t>&gt; jump from degree 28 to 31 half as significant as the jump from degree 31 to 63.</a:t>
            </a:r>
            <a:endParaRPr/>
          </a:p>
        </p:txBody>
      </p:sp>
      <p:sp>
        <p:nvSpPr>
          <p:cNvPr id="369" name="Google Shape;369;g302e980fd0f_2_157"/>
          <p:cNvSpPr txBox="1"/>
          <p:nvPr>
            <p:ph idx="12" type="sldNum"/>
          </p:nvPr>
        </p:nvSpPr>
        <p:spPr>
          <a:xfrm>
            <a:off x="1" y="715717"/>
            <a:ext cx="611100" cy="614100"/>
          </a:xfrm>
          <a:prstGeom prst="rect">
            <a:avLst/>
          </a:prstGeom>
        </p:spPr>
        <p:txBody>
          <a:bodyPr anchorCtr="0" anchor="ctr" bIns="64800" lIns="0" spcFirstLastPara="1" rIns="0" wrap="square" tIns="6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70" name="Google Shape;370;g302e980fd0f_2_157"/>
          <p:cNvSpPr txBox="1"/>
          <p:nvPr>
            <p:ph idx="3" type="body"/>
          </p:nvPr>
        </p:nvSpPr>
        <p:spPr>
          <a:xfrm>
            <a:off x="880588" y="349998"/>
            <a:ext cx="10187400" cy="28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02e980fd0f_2_157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02e980fd0f_2_157"/>
          <p:cNvSpPr txBox="1"/>
          <p:nvPr/>
        </p:nvSpPr>
        <p:spPr>
          <a:xfrm>
            <a:off x="880512" y="6839321"/>
            <a:ext cx="10521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F0F0F"/>
                </a:solidFill>
              </a:rPr>
              <a:t>September, 2024</a:t>
            </a:r>
            <a:endParaRPr sz="18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0467560b14_0_159"/>
          <p:cNvSpPr txBox="1"/>
          <p:nvPr>
            <p:ph type="ctrTitle"/>
          </p:nvPr>
        </p:nvSpPr>
        <p:spPr>
          <a:xfrm>
            <a:off x="880589" y="1392640"/>
            <a:ext cx="8659500" cy="24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70146"/>
              </a:buClr>
              <a:buSzPct val="100000"/>
              <a:buFont typeface="Arial"/>
              <a:buNone/>
            </a:pPr>
            <a:r>
              <a:rPr lang="de-DE"/>
              <a:t>Automated High-depth Privacy-preserving Polynomial Approximation Evaluation</a:t>
            </a:r>
            <a:endParaRPr/>
          </a:p>
        </p:txBody>
      </p:sp>
      <p:sp>
        <p:nvSpPr>
          <p:cNvPr id="378" name="Google Shape;378;g30467560b14_0_159"/>
          <p:cNvSpPr txBox="1"/>
          <p:nvPr>
            <p:ph idx="10" type="dt"/>
          </p:nvPr>
        </p:nvSpPr>
        <p:spPr>
          <a:xfrm>
            <a:off x="880591" y="4802560"/>
            <a:ext cx="8659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Supervisor: Aikata Aikata</a:t>
            </a:r>
            <a:endParaRPr/>
          </a:p>
        </p:txBody>
      </p:sp>
      <p:sp>
        <p:nvSpPr>
          <p:cNvPr id="379" name="Google Shape;379;g30467560b14_0_159"/>
          <p:cNvSpPr txBox="1"/>
          <p:nvPr>
            <p:ph idx="11" type="ftr"/>
          </p:nvPr>
        </p:nvSpPr>
        <p:spPr>
          <a:xfrm>
            <a:off x="880589" y="3865600"/>
            <a:ext cx="86595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Tatiana Kirillova</a:t>
            </a:r>
            <a:endParaRPr/>
          </a:p>
        </p:txBody>
      </p:sp>
      <p:sp>
        <p:nvSpPr>
          <p:cNvPr id="380" name="Google Shape;380;g30467560b14_0_159"/>
          <p:cNvSpPr txBox="1"/>
          <p:nvPr>
            <p:ph idx="1" type="body"/>
          </p:nvPr>
        </p:nvSpPr>
        <p:spPr>
          <a:xfrm>
            <a:off x="880512" y="6839321"/>
            <a:ext cx="105210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DE"/>
              <a:t>September, 2024</a:t>
            </a:r>
            <a:endParaRPr/>
          </a:p>
        </p:txBody>
      </p:sp>
      <p:sp>
        <p:nvSpPr>
          <p:cNvPr id="381" name="Google Shape;381;g30467560b14_0_159"/>
          <p:cNvSpPr/>
          <p:nvPr/>
        </p:nvSpPr>
        <p:spPr>
          <a:xfrm>
            <a:off x="6890150" y="6711200"/>
            <a:ext cx="5999100" cy="6141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U Graz Standard">
  <a:themeElements>
    <a:clrScheme name="Benutzerdefiniert 3">
      <a:dk1>
        <a:srgbClr val="0F0F0F"/>
      </a:dk1>
      <a:lt1>
        <a:srgbClr val="FFFFFF"/>
      </a:lt1>
      <a:dk2>
        <a:srgbClr val="3B5A70"/>
      </a:dk2>
      <a:lt2>
        <a:srgbClr val="EEECE1"/>
      </a:lt2>
      <a:accent1>
        <a:srgbClr val="F70146"/>
      </a:accent1>
      <a:accent2>
        <a:srgbClr val="5191C1"/>
      </a:accent2>
      <a:accent3>
        <a:srgbClr val="A5A5A5"/>
      </a:accent3>
      <a:accent4>
        <a:srgbClr val="285F82"/>
      </a:accent4>
      <a:accent5>
        <a:srgbClr val="78BE73"/>
      </a:accent5>
      <a:accent6>
        <a:srgbClr val="E59352"/>
      </a:accent6>
      <a:hlink>
        <a:srgbClr val="0066D8"/>
      </a:hlink>
      <a:folHlink>
        <a:srgbClr val="6C2F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2015-08-27T14:41:22Z</dcterms:created>
  <dc:creator>cd@tugraz.at</dc:creator>
</cp:coreProperties>
</file>